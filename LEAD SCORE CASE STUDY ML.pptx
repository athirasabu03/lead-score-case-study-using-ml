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6324" y="1945970"/>
            <a:ext cx="7273290" cy="2282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324" y="286892"/>
            <a:ext cx="8368030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4580" y="1684756"/>
            <a:ext cx="10066655" cy="3933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 marR="5080">
              <a:lnSpc>
                <a:spcPts val="8159"/>
              </a:lnSpc>
              <a:spcBef>
                <a:spcPts val="1575"/>
              </a:spcBef>
            </a:pPr>
            <a:r>
              <a:rPr sz="8000" dirty="0">
                <a:solidFill>
                  <a:srgbClr val="252525"/>
                </a:solidFill>
              </a:rPr>
              <a:t>LEAD</a:t>
            </a:r>
            <a:r>
              <a:rPr sz="8000" spc="-409" dirty="0">
                <a:solidFill>
                  <a:srgbClr val="252525"/>
                </a:solidFill>
              </a:rPr>
              <a:t> </a:t>
            </a:r>
            <a:r>
              <a:rPr sz="8000" spc="-20" dirty="0">
                <a:solidFill>
                  <a:srgbClr val="252525"/>
                </a:solidFill>
              </a:rPr>
              <a:t>SCORE</a:t>
            </a:r>
            <a:r>
              <a:rPr sz="8000" spc="-385" dirty="0">
                <a:solidFill>
                  <a:srgbClr val="252525"/>
                </a:solidFill>
              </a:rPr>
              <a:t> </a:t>
            </a:r>
            <a:r>
              <a:rPr sz="8000" spc="-20" dirty="0">
                <a:solidFill>
                  <a:srgbClr val="252525"/>
                </a:solidFill>
              </a:rPr>
              <a:t>CASE </a:t>
            </a:r>
            <a:r>
              <a:rPr sz="8000" spc="-10" dirty="0">
                <a:solidFill>
                  <a:srgbClr val="252525"/>
                </a:solidFill>
              </a:rPr>
              <a:t>STUDY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8899397" y="4477125"/>
            <a:ext cx="2179320" cy="9937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824230" algn="r">
              <a:lnSpc>
                <a:spcPct val="138600"/>
              </a:lnSpc>
              <a:spcBef>
                <a:spcPts val="110"/>
              </a:spcBef>
            </a:pPr>
            <a:r>
              <a:rPr sz="2400" spc="130" dirty="0">
                <a:solidFill>
                  <a:srgbClr val="626F52"/>
                </a:solidFill>
                <a:latin typeface="Calibri Light"/>
                <a:cs typeface="Calibri Light"/>
              </a:rPr>
              <a:t>DONE</a:t>
            </a:r>
            <a:r>
              <a:rPr sz="2400" spc="39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-25" dirty="0">
                <a:solidFill>
                  <a:srgbClr val="626F52"/>
                </a:solidFill>
                <a:latin typeface="Calibri Light"/>
                <a:cs typeface="Calibri Light"/>
              </a:rPr>
              <a:t>BY: </a:t>
            </a:r>
            <a:r>
              <a:rPr sz="2400" spc="125" dirty="0">
                <a:solidFill>
                  <a:srgbClr val="626F52"/>
                </a:solidFill>
                <a:latin typeface="Calibri Light"/>
                <a:cs typeface="Calibri Light"/>
              </a:rPr>
              <a:t> ATHIRA</a:t>
            </a:r>
            <a:r>
              <a:rPr sz="2400" spc="385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20" dirty="0">
                <a:solidFill>
                  <a:srgbClr val="626F52"/>
                </a:solidFill>
                <a:latin typeface="Calibri Light"/>
                <a:cs typeface="Calibri Light"/>
              </a:rPr>
              <a:t>SABU</a:t>
            </a:r>
            <a:endParaRPr sz="24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4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PROBLEM</a:t>
            </a:r>
            <a:r>
              <a:rPr spc="-215" dirty="0"/>
              <a:t> </a:t>
            </a:r>
            <a:r>
              <a:rPr spc="-12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84756"/>
            <a:ext cx="9931400" cy="293243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education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company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named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Education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sells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online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courses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industry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professionals.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ts val="228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Education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gets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leads,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conversion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rate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very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poor.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example,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if,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endParaRPr sz="2000">
              <a:latin typeface="Calibri"/>
              <a:cs typeface="Calibri"/>
            </a:endParaRPr>
          </a:p>
          <a:p>
            <a:pPr marL="104139">
              <a:lnSpc>
                <a:spcPts val="228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acquire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100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day,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30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them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converted.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ts val="2280"/>
              </a:lnSpc>
              <a:spcBef>
                <a:spcPts val="115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process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efficient,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company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wishes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identify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potential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leads,</a:t>
            </a:r>
            <a:endParaRPr sz="2000">
              <a:latin typeface="Calibri"/>
              <a:cs typeface="Calibri"/>
            </a:endParaRPr>
          </a:p>
          <a:p>
            <a:pPr marL="104139">
              <a:lnSpc>
                <a:spcPts val="228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‘Hot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Leads’.</a:t>
            </a:r>
            <a:endParaRPr sz="2000">
              <a:latin typeface="Calibri"/>
              <a:cs typeface="Calibri"/>
            </a:endParaRPr>
          </a:p>
          <a:p>
            <a:pPr marL="104139" marR="5080" indent="-96520" algn="just">
              <a:lnSpc>
                <a:spcPct val="90100"/>
              </a:lnSpc>
              <a:spcBef>
                <a:spcPts val="140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104139" algn="l"/>
                <a:tab pos="21272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If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successfully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identify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leads,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conversion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rate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go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sales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now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focusing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communicating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potential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rather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than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making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calls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everyone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4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BUSINESS</a:t>
            </a:r>
            <a:r>
              <a:rPr spc="-155" dirty="0"/>
              <a:t> </a:t>
            </a:r>
            <a:r>
              <a:rPr spc="-35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84756"/>
            <a:ext cx="7597140" cy="138239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education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wants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identify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promising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hot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leads.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want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build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identifies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hot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leads.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Deployment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future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use.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925" rIns="0" bIns="0" rtlCol="0">
            <a:spAutoFit/>
          </a:bodyPr>
          <a:lstStyle/>
          <a:p>
            <a:pPr marL="366395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SOLUTION</a:t>
            </a:r>
            <a:r>
              <a:rPr spc="-204" dirty="0"/>
              <a:t> </a:t>
            </a:r>
            <a:r>
              <a:rPr spc="-55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9036" y="1813661"/>
            <a:ext cx="9496425" cy="273875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cleaning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manipulation.</a:t>
            </a:r>
            <a:endParaRPr sz="2000">
              <a:latin typeface="Calibri"/>
              <a:cs typeface="Calibri"/>
            </a:endParaRPr>
          </a:p>
          <a:p>
            <a:pPr marL="200660" indent="-195580">
              <a:lnSpc>
                <a:spcPct val="100000"/>
              </a:lnSpc>
              <a:spcBef>
                <a:spcPts val="1165"/>
              </a:spcBef>
              <a:buSzPct val="95000"/>
              <a:buAutoNum type="arabicPeriod"/>
              <a:tabLst>
                <a:tab pos="2006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Check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handle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duplicate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data.</a:t>
            </a:r>
            <a:endParaRPr sz="2000">
              <a:latin typeface="Calibri"/>
              <a:cs typeface="Calibri"/>
            </a:endParaRPr>
          </a:p>
          <a:p>
            <a:pPr marL="200660" indent="-195580">
              <a:lnSpc>
                <a:spcPct val="100000"/>
              </a:lnSpc>
              <a:spcBef>
                <a:spcPts val="1155"/>
              </a:spcBef>
              <a:buSzPct val="95000"/>
              <a:buAutoNum type="arabicPeriod"/>
              <a:tabLst>
                <a:tab pos="2006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Check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handle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NA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missing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values.</a:t>
            </a:r>
            <a:endParaRPr sz="2000">
              <a:latin typeface="Calibri"/>
              <a:cs typeface="Calibri"/>
            </a:endParaRPr>
          </a:p>
          <a:p>
            <a:pPr marL="12700" marR="5080" indent="-3810">
              <a:lnSpc>
                <a:spcPct val="148500"/>
              </a:lnSpc>
              <a:buSzPct val="95000"/>
              <a:buAutoNum type="arabicPeriod"/>
              <a:tabLst>
                <a:tab pos="20447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Drop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columns,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contains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large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amount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missing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useful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analysis.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4.Imputation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values,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necessary.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5.Check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handle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outliers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92000" y="4571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12192000" y="6705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193291" y="1737360"/>
            <a:ext cx="105410" cy="0"/>
          </a:xfrm>
          <a:custGeom>
            <a:avLst/>
            <a:gdLst/>
            <a:ahLst/>
            <a:cxnLst/>
            <a:rect l="l" t="t" r="r" b="b"/>
            <a:pathLst>
              <a:path w="105409">
                <a:moveTo>
                  <a:pt x="0" y="0"/>
                </a:moveTo>
                <a:lnTo>
                  <a:pt x="105156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4580" y="289407"/>
            <a:ext cx="9210040" cy="364426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EDA</a:t>
            </a:r>
            <a:endParaRPr sz="2000">
              <a:latin typeface="Calibri"/>
              <a:cs typeface="Calibri"/>
            </a:endParaRPr>
          </a:p>
          <a:p>
            <a:pPr marL="294640" lvl="1" indent="-195580">
              <a:lnSpc>
                <a:spcPct val="100000"/>
              </a:lnSpc>
              <a:spcBef>
                <a:spcPts val="1165"/>
              </a:spcBef>
              <a:buSzPct val="95000"/>
              <a:buAutoNum type="arabicPeriod"/>
              <a:tabLst>
                <a:tab pos="29464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Univariate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analysis: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value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count,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variable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352425" lvl="1" indent="-248285">
              <a:lnSpc>
                <a:spcPct val="100000"/>
              </a:lnSpc>
              <a:spcBef>
                <a:spcPts val="1155"/>
              </a:spcBef>
              <a:buSzPct val="95000"/>
              <a:buAutoNum type="arabicPeriod"/>
              <a:tabLst>
                <a:tab pos="352425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Bivariate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analysis: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correlation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coefficients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pattern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between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variables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Feature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Scaling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Dummy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Variables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encoding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Classification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technique: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logistic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regression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prediction.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5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Validation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model.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presentation.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Conclusions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recommendations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4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DATA</a:t>
            </a:r>
            <a:r>
              <a:rPr spc="-80" dirty="0"/>
              <a:t> </a:t>
            </a:r>
            <a:r>
              <a:rPr spc="-75" dirty="0"/>
              <a:t>MANIPULATION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pc="-30" dirty="0">
                <a:solidFill>
                  <a:srgbClr val="404040"/>
                </a:solidFill>
              </a:rPr>
              <a:t>Total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Number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of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Rows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=37,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Total </a:t>
            </a:r>
            <a:r>
              <a:rPr dirty="0">
                <a:solidFill>
                  <a:srgbClr val="404040"/>
                </a:solidFill>
              </a:rPr>
              <a:t>Number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of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Columns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=9240.</a:t>
            </a:r>
          </a:p>
          <a:p>
            <a:pPr marL="104139" marR="78105" indent="-96520">
              <a:lnSpc>
                <a:spcPts val="2160"/>
              </a:lnSpc>
              <a:spcBef>
                <a:spcPts val="144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104139" algn="l"/>
                <a:tab pos="212725" algn="l"/>
              </a:tabLst>
            </a:pPr>
            <a:r>
              <a:rPr dirty="0">
                <a:solidFill>
                  <a:srgbClr val="404040"/>
                </a:solidFill>
              </a:rPr>
              <a:t>	Unique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value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features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like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“Magazine”,</a:t>
            </a:r>
            <a:r>
              <a:rPr spc="-7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“Receive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More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Updates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About</a:t>
            </a:r>
            <a:r>
              <a:rPr spc="-6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Our</a:t>
            </a:r>
            <a:r>
              <a:rPr spc="-6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Courses”,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“I</a:t>
            </a:r>
            <a:r>
              <a:rPr spc="-6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agree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to </a:t>
            </a:r>
            <a:r>
              <a:rPr dirty="0">
                <a:solidFill>
                  <a:srgbClr val="404040"/>
                </a:solidFill>
              </a:rPr>
              <a:t>pay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amount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through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cheque”,</a:t>
            </a:r>
            <a:r>
              <a:rPr spc="-6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“Get</a:t>
            </a:r>
            <a:r>
              <a:rPr spc="-2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updates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on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DM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Content",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"Update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me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on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Supply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Chain </a:t>
            </a:r>
            <a:r>
              <a:rPr spc="-20" dirty="0">
                <a:solidFill>
                  <a:srgbClr val="404040"/>
                </a:solidFill>
              </a:rPr>
              <a:t>Content”,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etc.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have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been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dropped.</a:t>
            </a:r>
          </a:p>
          <a:p>
            <a:pPr marL="213360" indent="-205104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>
                <a:solidFill>
                  <a:srgbClr val="404040"/>
                </a:solidFill>
              </a:rPr>
              <a:t>Removing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“Prospect</a:t>
            </a:r>
            <a:r>
              <a:rPr spc="-2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ID”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and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“Lead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Number”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which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is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not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necessary</a:t>
            </a:r>
            <a:r>
              <a:rPr spc="-2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for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analysis.</a:t>
            </a:r>
          </a:p>
          <a:p>
            <a:pPr marL="104139" marR="46990" indent="-96520">
              <a:lnSpc>
                <a:spcPct val="90000"/>
              </a:lnSpc>
              <a:spcBef>
                <a:spcPts val="140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104139" algn="l"/>
                <a:tab pos="212725" algn="l"/>
              </a:tabLst>
            </a:pPr>
            <a:r>
              <a:rPr dirty="0">
                <a:solidFill>
                  <a:srgbClr val="404040"/>
                </a:solidFill>
              </a:rPr>
              <a:t>	After</a:t>
            </a:r>
            <a:r>
              <a:rPr spc="-3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checking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for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value</a:t>
            </a:r>
            <a:r>
              <a:rPr spc="-3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counts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for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some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of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object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type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variables,</a:t>
            </a:r>
            <a:r>
              <a:rPr spc="-2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we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find</a:t>
            </a:r>
            <a:r>
              <a:rPr spc="-3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some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of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the </a:t>
            </a:r>
            <a:r>
              <a:rPr spc="-10" dirty="0">
                <a:solidFill>
                  <a:srgbClr val="404040"/>
                </a:solidFill>
              </a:rPr>
              <a:t>features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which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has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no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enough</a:t>
            </a:r>
            <a:r>
              <a:rPr spc="-6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variance,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which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we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have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dropped,</a:t>
            </a:r>
            <a:r>
              <a:rPr spc="-6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features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are: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“Do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Not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Call”, </a:t>
            </a:r>
            <a:r>
              <a:rPr dirty="0">
                <a:solidFill>
                  <a:srgbClr val="404040"/>
                </a:solidFill>
              </a:rPr>
              <a:t>“What</a:t>
            </a:r>
            <a:r>
              <a:rPr spc="-6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matters</a:t>
            </a:r>
            <a:r>
              <a:rPr spc="-1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most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to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you</a:t>
            </a:r>
            <a:r>
              <a:rPr spc="-7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in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choosing</a:t>
            </a:r>
            <a:r>
              <a:rPr spc="-70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course”,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“Search”,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“Newspaper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Article”,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“X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Education </a:t>
            </a:r>
            <a:r>
              <a:rPr spc="-25" dirty="0">
                <a:solidFill>
                  <a:srgbClr val="404040"/>
                </a:solidFill>
              </a:rPr>
              <a:t>Forums”,</a:t>
            </a:r>
            <a:r>
              <a:rPr spc="-7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“Newspaper”,</a:t>
            </a:r>
            <a:r>
              <a:rPr spc="-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“Digital</a:t>
            </a:r>
            <a:r>
              <a:rPr spc="-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Advertisement”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etc.</a:t>
            </a:r>
          </a:p>
          <a:p>
            <a:pPr marL="104139" marR="5080" indent="-92075">
              <a:lnSpc>
                <a:spcPts val="2160"/>
              </a:lnSpc>
              <a:spcBef>
                <a:spcPts val="143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104139" algn="l"/>
                <a:tab pos="269240" algn="l"/>
              </a:tabLst>
            </a:pPr>
            <a:r>
              <a:rPr dirty="0">
                <a:solidFill>
                  <a:srgbClr val="404040"/>
                </a:solidFill>
              </a:rPr>
              <a:t>	Dropping</a:t>
            </a:r>
            <a:r>
              <a:rPr spc="-6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columns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having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more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than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35%</a:t>
            </a:r>
            <a:r>
              <a:rPr spc="-6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as</a:t>
            </a:r>
            <a:r>
              <a:rPr spc="-2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missing</a:t>
            </a:r>
            <a:r>
              <a:rPr spc="-3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value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such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as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‘How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did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you</a:t>
            </a:r>
            <a:r>
              <a:rPr spc="-5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hear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about </a:t>
            </a:r>
            <a:r>
              <a:rPr dirty="0">
                <a:solidFill>
                  <a:srgbClr val="404040"/>
                </a:solidFill>
              </a:rPr>
              <a:t>X</a:t>
            </a:r>
            <a:r>
              <a:rPr spc="-3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Education’</a:t>
            </a:r>
            <a:r>
              <a:rPr spc="-5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and</a:t>
            </a:r>
            <a:r>
              <a:rPr spc="-3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‘Lead</a:t>
            </a:r>
            <a:r>
              <a:rPr spc="-2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Profile’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9175" y="1737360"/>
            <a:ext cx="7938516" cy="44912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4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EDA(Exploratory</a:t>
            </a:r>
            <a:r>
              <a:rPr spc="-195" dirty="0"/>
              <a:t> </a:t>
            </a:r>
            <a:r>
              <a:rPr spc="-50" dirty="0"/>
              <a:t>Data</a:t>
            </a:r>
            <a:r>
              <a:rPr spc="-155" dirty="0"/>
              <a:t> </a:t>
            </a:r>
            <a:r>
              <a:rPr spc="-30" dirty="0"/>
              <a:t>Analysis)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097" y="700678"/>
            <a:ext cx="3637818" cy="25057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3116" y="3480815"/>
            <a:ext cx="5701283" cy="2857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2511" y="539495"/>
            <a:ext cx="5239512" cy="280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pc="-100" dirty="0"/>
              <a:t>RELATION</a:t>
            </a:r>
            <a:r>
              <a:rPr spc="-165" dirty="0"/>
              <a:t> </a:t>
            </a:r>
            <a:r>
              <a:rPr spc="-50" dirty="0"/>
              <a:t>BETWEEN</a:t>
            </a:r>
            <a:r>
              <a:rPr spc="-125" dirty="0"/>
              <a:t> </a:t>
            </a:r>
            <a:r>
              <a:rPr spc="-75" dirty="0"/>
              <a:t>CATEGORICAL </a:t>
            </a:r>
            <a:r>
              <a:rPr spc="-10" dirty="0"/>
              <a:t>VARIABLES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099" y="1908569"/>
            <a:ext cx="9665829" cy="39063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384" y="682931"/>
            <a:ext cx="9913901" cy="52282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636" y="802916"/>
            <a:ext cx="9344531" cy="47431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4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DATA</a:t>
            </a:r>
            <a:r>
              <a:rPr spc="-80" dirty="0"/>
              <a:t> </a:t>
            </a:r>
            <a:r>
              <a:rPr spc="-55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84756"/>
            <a:ext cx="5465445" cy="183515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Numeric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variables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normalized.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Dummy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variables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created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object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type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variables.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rows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analysis:8792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columns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analysis:43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4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MODEL</a:t>
            </a:r>
            <a:r>
              <a:rPr spc="-229" dirty="0"/>
              <a:t> </a:t>
            </a:r>
            <a:r>
              <a:rPr spc="-35" dirty="0"/>
              <a:t>BUILDING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84756"/>
            <a:ext cx="9808210" cy="3465829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Splitting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Training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Testing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Sets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first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basic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step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regression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performing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train-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test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split,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chosen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70:30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ratio.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RFE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Feature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Selection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Running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RFE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15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variables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  <a:p>
            <a:pPr marL="104139" marR="159385" indent="-96520">
              <a:lnSpc>
                <a:spcPts val="2160"/>
              </a:lnSpc>
              <a:spcBef>
                <a:spcPts val="143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104139" algn="l"/>
                <a:tab pos="21272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Building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removing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variable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whose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p-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value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greater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0.05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vif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value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greater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than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2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Predictions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test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Overall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accuracy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81%.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2822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ROC</a:t>
            </a:r>
            <a:r>
              <a:rPr spc="-250" dirty="0"/>
              <a:t> </a:t>
            </a:r>
            <a:r>
              <a:rPr spc="-45" dirty="0"/>
              <a:t>CURVE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5095" y="2478144"/>
            <a:ext cx="3610141" cy="3552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2874" y="2572261"/>
            <a:ext cx="4335582" cy="33550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92000" y="4571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12192000" y="6705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84580" y="530961"/>
            <a:ext cx="8728710" cy="928369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25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Optimal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cut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off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point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point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where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balanced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specificity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sensitivity.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second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graph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observed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optimal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cut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off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0.35.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4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4589" rIns="0" bIns="0" rtlCol="0">
            <a:spAutoFit/>
          </a:bodyPr>
          <a:lstStyle/>
          <a:p>
            <a:pPr marL="104139" marR="5080">
              <a:lnSpc>
                <a:spcPts val="1920"/>
              </a:lnSpc>
              <a:spcBef>
                <a:spcPts val="565"/>
              </a:spcBef>
            </a:pPr>
            <a:r>
              <a:rPr dirty="0"/>
              <a:t>It</a:t>
            </a:r>
            <a:r>
              <a:rPr spc="-60" dirty="0"/>
              <a:t> </a:t>
            </a:r>
            <a:r>
              <a:rPr dirty="0"/>
              <a:t>was</a:t>
            </a:r>
            <a:r>
              <a:rPr spc="-40" dirty="0"/>
              <a:t> </a:t>
            </a:r>
            <a:r>
              <a:rPr dirty="0"/>
              <a:t>found</a:t>
            </a:r>
            <a:r>
              <a:rPr spc="-7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variables</a:t>
            </a:r>
            <a:r>
              <a:rPr spc="-3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spc="-10" dirty="0"/>
              <a:t>mattered</a:t>
            </a:r>
            <a:r>
              <a:rPr spc="-4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most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45" dirty="0"/>
              <a:t> </a:t>
            </a:r>
            <a:r>
              <a:rPr dirty="0"/>
              <a:t>buyers</a:t>
            </a:r>
            <a:r>
              <a:rPr spc="-60" dirty="0"/>
              <a:t> </a:t>
            </a:r>
            <a:r>
              <a:rPr dirty="0"/>
              <a:t>are</a:t>
            </a:r>
            <a:r>
              <a:rPr spc="-50" dirty="0"/>
              <a:t> </a:t>
            </a:r>
            <a:r>
              <a:rPr dirty="0"/>
              <a:t>(In</a:t>
            </a:r>
            <a:r>
              <a:rPr spc="-55" dirty="0"/>
              <a:t> </a:t>
            </a:r>
            <a:r>
              <a:rPr spc="-10" dirty="0"/>
              <a:t>descending </a:t>
            </a:r>
            <a:r>
              <a:rPr dirty="0"/>
              <a:t>order)</a:t>
            </a:r>
            <a:r>
              <a:rPr spc="-80" dirty="0"/>
              <a:t> </a:t>
            </a:r>
            <a:r>
              <a:rPr spc="-50" dirty="0"/>
              <a:t>:</a:t>
            </a:r>
          </a:p>
          <a:p>
            <a:pPr marL="213360" indent="-204470">
              <a:lnSpc>
                <a:spcPct val="100000"/>
              </a:lnSpc>
              <a:spcBef>
                <a:spcPts val="94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total</a:t>
            </a:r>
            <a:r>
              <a:rPr spc="-35" dirty="0"/>
              <a:t> </a:t>
            </a:r>
            <a:r>
              <a:rPr dirty="0"/>
              <a:t>time</a:t>
            </a:r>
            <a:r>
              <a:rPr spc="-20" dirty="0"/>
              <a:t> </a:t>
            </a:r>
            <a:r>
              <a:rPr dirty="0"/>
              <a:t>spend</a:t>
            </a:r>
            <a:r>
              <a:rPr spc="-40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Website.</a:t>
            </a:r>
          </a:p>
          <a:p>
            <a:pPr marL="269875" indent="-257175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pc="-30" dirty="0"/>
              <a:t>Total</a:t>
            </a:r>
            <a:r>
              <a:rPr spc="-40" dirty="0"/>
              <a:t> </a:t>
            </a:r>
            <a:r>
              <a:rPr dirty="0"/>
              <a:t>number</a:t>
            </a:r>
            <a:r>
              <a:rPr spc="-6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visits.</a:t>
            </a:r>
          </a:p>
          <a:p>
            <a:pPr marL="213360" indent="-205104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/>
              <a:t>When</a:t>
            </a:r>
            <a:r>
              <a:rPr spc="-5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lead</a:t>
            </a:r>
            <a:r>
              <a:rPr spc="-25" dirty="0"/>
              <a:t> </a:t>
            </a:r>
            <a:r>
              <a:rPr dirty="0"/>
              <a:t>source</a:t>
            </a:r>
            <a:r>
              <a:rPr spc="-30" dirty="0"/>
              <a:t> </a:t>
            </a:r>
            <a:r>
              <a:rPr dirty="0"/>
              <a:t>was:</a:t>
            </a:r>
            <a:r>
              <a:rPr spc="-35" dirty="0"/>
              <a:t> </a:t>
            </a:r>
            <a:r>
              <a:rPr dirty="0"/>
              <a:t>a.</a:t>
            </a:r>
            <a:r>
              <a:rPr spc="-35" dirty="0"/>
              <a:t> </a:t>
            </a:r>
            <a:r>
              <a:rPr dirty="0"/>
              <a:t>Google</a:t>
            </a:r>
            <a:r>
              <a:rPr spc="-45" dirty="0"/>
              <a:t> </a:t>
            </a:r>
            <a:r>
              <a:rPr dirty="0"/>
              <a:t>b.</a:t>
            </a:r>
            <a:r>
              <a:rPr spc="-50" dirty="0"/>
              <a:t> </a:t>
            </a:r>
            <a:r>
              <a:rPr dirty="0"/>
              <a:t>Direct</a:t>
            </a:r>
            <a:r>
              <a:rPr spc="-30" dirty="0"/>
              <a:t> </a:t>
            </a:r>
            <a:r>
              <a:rPr spc="-10" dirty="0"/>
              <a:t>traffic</a:t>
            </a:r>
            <a:r>
              <a:rPr spc="-15" dirty="0"/>
              <a:t> </a:t>
            </a:r>
            <a:r>
              <a:rPr dirty="0"/>
              <a:t>c.</a:t>
            </a:r>
            <a:r>
              <a:rPr spc="-35" dirty="0"/>
              <a:t> </a:t>
            </a:r>
            <a:r>
              <a:rPr spc="-10" dirty="0"/>
              <a:t>Organic</a:t>
            </a:r>
            <a:r>
              <a:rPr spc="-50" dirty="0"/>
              <a:t> </a:t>
            </a:r>
            <a:r>
              <a:rPr dirty="0"/>
              <a:t>search</a:t>
            </a:r>
            <a:r>
              <a:rPr spc="-25" dirty="0"/>
              <a:t> </a:t>
            </a:r>
            <a:r>
              <a:rPr dirty="0"/>
              <a:t>d.</a:t>
            </a:r>
            <a:r>
              <a:rPr spc="-45" dirty="0"/>
              <a:t> </a:t>
            </a:r>
            <a:r>
              <a:rPr spc="-10" dirty="0"/>
              <a:t>Welingak</a:t>
            </a:r>
            <a:r>
              <a:rPr spc="-45" dirty="0"/>
              <a:t> </a:t>
            </a:r>
            <a:r>
              <a:rPr spc="-10" dirty="0"/>
              <a:t>website</a:t>
            </a:r>
          </a:p>
          <a:p>
            <a:pPr marL="213360" indent="-205104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/>
              <a:t>When</a:t>
            </a:r>
            <a:r>
              <a:rPr spc="-6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last</a:t>
            </a:r>
            <a:r>
              <a:rPr spc="-15" dirty="0"/>
              <a:t> </a:t>
            </a:r>
            <a:r>
              <a:rPr dirty="0"/>
              <a:t>activity</a:t>
            </a:r>
            <a:r>
              <a:rPr spc="-40" dirty="0"/>
              <a:t> </a:t>
            </a:r>
            <a:r>
              <a:rPr dirty="0"/>
              <a:t>was:</a:t>
            </a:r>
            <a:r>
              <a:rPr spc="-35" dirty="0"/>
              <a:t> </a:t>
            </a:r>
            <a:r>
              <a:rPr dirty="0"/>
              <a:t>a.SMS</a:t>
            </a:r>
            <a:r>
              <a:rPr spc="-40" dirty="0"/>
              <a:t> </a:t>
            </a:r>
            <a:r>
              <a:rPr dirty="0"/>
              <a:t>b.</a:t>
            </a:r>
            <a:r>
              <a:rPr spc="-45" dirty="0"/>
              <a:t> </a:t>
            </a:r>
            <a:r>
              <a:rPr dirty="0"/>
              <a:t>Olark</a:t>
            </a:r>
            <a:r>
              <a:rPr spc="-45" dirty="0"/>
              <a:t> </a:t>
            </a:r>
            <a:r>
              <a:rPr dirty="0"/>
              <a:t>chat</a:t>
            </a:r>
            <a:r>
              <a:rPr spc="-50" dirty="0"/>
              <a:t> </a:t>
            </a:r>
            <a:r>
              <a:rPr spc="-10" dirty="0"/>
              <a:t>conversation</a:t>
            </a:r>
          </a:p>
          <a:p>
            <a:pPr marL="213360" indent="-204470">
              <a:lnSpc>
                <a:spcPct val="100000"/>
              </a:lnSpc>
              <a:spcBef>
                <a:spcPts val="91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/>
              <a:t>When</a:t>
            </a:r>
            <a:r>
              <a:rPr spc="-4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lead</a:t>
            </a:r>
            <a:r>
              <a:rPr spc="-20" dirty="0"/>
              <a:t> </a:t>
            </a:r>
            <a:r>
              <a:rPr dirty="0"/>
              <a:t>origin</a:t>
            </a:r>
            <a:r>
              <a:rPr spc="-30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Lead</a:t>
            </a:r>
            <a:r>
              <a:rPr spc="-30" dirty="0"/>
              <a:t> </a:t>
            </a:r>
            <a:r>
              <a:rPr dirty="0"/>
              <a:t>add</a:t>
            </a:r>
            <a:r>
              <a:rPr spc="-15" dirty="0"/>
              <a:t> </a:t>
            </a:r>
            <a:r>
              <a:rPr spc="-10" dirty="0"/>
              <a:t>format.</a:t>
            </a:r>
          </a:p>
          <a:p>
            <a:pPr marL="213360" indent="-205104">
              <a:lnSpc>
                <a:spcPct val="100000"/>
              </a:lnSpc>
              <a:spcBef>
                <a:spcPts val="93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/>
              <a:t>When</a:t>
            </a:r>
            <a:r>
              <a:rPr spc="-55" dirty="0"/>
              <a:t> </a:t>
            </a:r>
            <a:r>
              <a:rPr dirty="0"/>
              <a:t>their</a:t>
            </a:r>
            <a:r>
              <a:rPr spc="-35" dirty="0"/>
              <a:t> </a:t>
            </a:r>
            <a:r>
              <a:rPr dirty="0"/>
              <a:t>current</a:t>
            </a:r>
            <a:r>
              <a:rPr spc="-30" dirty="0"/>
              <a:t> </a:t>
            </a:r>
            <a:r>
              <a:rPr dirty="0"/>
              <a:t>occupation</a:t>
            </a:r>
            <a:r>
              <a:rPr spc="-5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working</a:t>
            </a:r>
            <a:r>
              <a:rPr spc="-35" dirty="0"/>
              <a:t> </a:t>
            </a:r>
            <a:r>
              <a:rPr spc="-10" dirty="0"/>
              <a:t>professional.</a:t>
            </a:r>
          </a:p>
          <a:p>
            <a:pPr marL="104139" marR="9525">
              <a:lnSpc>
                <a:spcPts val="1920"/>
              </a:lnSpc>
              <a:spcBef>
                <a:spcPts val="1385"/>
              </a:spcBef>
            </a:pPr>
            <a:r>
              <a:rPr dirty="0"/>
              <a:t>Keeping</a:t>
            </a:r>
            <a:r>
              <a:rPr spc="-50" dirty="0"/>
              <a:t> </a:t>
            </a:r>
            <a:r>
              <a:rPr dirty="0"/>
              <a:t>these</a:t>
            </a:r>
            <a:r>
              <a:rPr spc="-2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mind</a:t>
            </a:r>
            <a:r>
              <a:rPr spc="-2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X</a:t>
            </a:r>
            <a:r>
              <a:rPr spc="-25" dirty="0"/>
              <a:t> </a:t>
            </a:r>
            <a:r>
              <a:rPr spc="-10" dirty="0"/>
              <a:t>Education</a:t>
            </a:r>
            <a:r>
              <a:rPr spc="-55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flourish</a:t>
            </a:r>
            <a:r>
              <a:rPr spc="-30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dirty="0"/>
              <a:t>they</a:t>
            </a:r>
            <a:r>
              <a:rPr spc="-40" dirty="0"/>
              <a:t> </a:t>
            </a:r>
            <a:r>
              <a:rPr dirty="0"/>
              <a:t>have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very</a:t>
            </a:r>
            <a:r>
              <a:rPr spc="-30" dirty="0"/>
              <a:t> </a:t>
            </a:r>
            <a:r>
              <a:rPr dirty="0"/>
              <a:t>high</a:t>
            </a:r>
            <a:r>
              <a:rPr spc="-35" dirty="0"/>
              <a:t> </a:t>
            </a:r>
            <a:r>
              <a:rPr dirty="0"/>
              <a:t>chance</a:t>
            </a:r>
            <a:r>
              <a:rPr spc="-5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get</a:t>
            </a:r>
            <a:r>
              <a:rPr spc="-40" dirty="0"/>
              <a:t> </a:t>
            </a:r>
            <a:r>
              <a:rPr spc="-10" dirty="0"/>
              <a:t>almost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potential</a:t>
            </a:r>
            <a:r>
              <a:rPr spc="-30" dirty="0"/>
              <a:t> </a:t>
            </a:r>
            <a:r>
              <a:rPr dirty="0"/>
              <a:t>buyers</a:t>
            </a:r>
            <a:r>
              <a:rPr spc="-5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change</a:t>
            </a:r>
            <a:r>
              <a:rPr spc="-70" dirty="0"/>
              <a:t> </a:t>
            </a:r>
            <a:r>
              <a:rPr dirty="0"/>
              <a:t>their</a:t>
            </a:r>
            <a:r>
              <a:rPr spc="-30" dirty="0"/>
              <a:t> </a:t>
            </a:r>
            <a:r>
              <a:rPr dirty="0"/>
              <a:t>mind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buy</a:t>
            </a:r>
            <a:r>
              <a:rPr spc="-65" dirty="0"/>
              <a:t> </a:t>
            </a:r>
            <a:r>
              <a:rPr dirty="0"/>
              <a:t>their</a:t>
            </a:r>
            <a:r>
              <a:rPr spc="-35" dirty="0"/>
              <a:t> </a:t>
            </a:r>
            <a:r>
              <a:rPr spc="-10" dirty="0"/>
              <a:t>courses.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725</Words>
  <Application>Microsoft Office PowerPoint</Application>
  <PresentationFormat>Widescreen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Wingdings</vt:lpstr>
      <vt:lpstr>Office Theme</vt:lpstr>
      <vt:lpstr>LEAD SCORE CASE STUDY</vt:lpstr>
      <vt:lpstr>PROBLEM STATEMENT</vt:lpstr>
      <vt:lpstr>BUSINESS OBJECTIVE</vt:lpstr>
      <vt:lpstr>SOLUTION METHODOLOGY</vt:lpstr>
      <vt:lpstr>PowerPoint Presentation</vt:lpstr>
      <vt:lpstr>DATA MANIPULATION</vt:lpstr>
      <vt:lpstr>EDA(Exploratory Data Analysis)</vt:lpstr>
      <vt:lpstr>PowerPoint Presentation</vt:lpstr>
      <vt:lpstr>RELATION BETWEEN CATEGORICAL VARIABLES</vt:lpstr>
      <vt:lpstr>PowerPoint Presentation</vt:lpstr>
      <vt:lpstr>PowerPoint Presentation</vt:lpstr>
      <vt:lpstr>DATA CONVERSION</vt:lpstr>
      <vt:lpstr>MODEL BUILDING</vt:lpstr>
      <vt:lpstr>ROC CURVE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SCORE CASE STUDY</dc:title>
  <dc:creator>Athira</dc:creator>
  <cp:lastModifiedBy>Athira Sabu</cp:lastModifiedBy>
  <cp:revision>1</cp:revision>
  <dcterms:created xsi:type="dcterms:W3CDTF">2026-04-14T05:34:06Z</dcterms:created>
  <dcterms:modified xsi:type="dcterms:W3CDTF">2026-04-14T05:35:28Z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2022-06-13T00:00:00Z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2026-04-14T00:00:00Z</vt:filetime>
  </property>
  <property fmtid="{D5CDD505-2E9C-101B-9397-08002B2CF9AE}" pid="5" name="Producer">
    <vt:lpwstr>Microsoft® PowerPoint® 2019</vt:lpwstr>
  </property>
</Properties>
</file>